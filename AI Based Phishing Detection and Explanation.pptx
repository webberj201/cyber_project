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Webber" userId="e1b66f99fb3743e3" providerId="LiveId" clId="{788E0482-64AB-4CBD-ACEF-74E7F97EC908}"/>
    <pc:docChg chg="modSld">
      <pc:chgData name="Joshua Webber" userId="e1b66f99fb3743e3" providerId="LiveId" clId="{788E0482-64AB-4CBD-ACEF-74E7F97EC908}" dt="2026-04-27T02:28:32.975" v="6" actId="1076"/>
      <pc:docMkLst>
        <pc:docMk/>
      </pc:docMkLst>
      <pc:sldChg chg="addSp modSp mod">
        <pc:chgData name="Joshua Webber" userId="e1b66f99fb3743e3" providerId="LiveId" clId="{788E0482-64AB-4CBD-ACEF-74E7F97EC908}" dt="2026-04-27T02:28:32.975" v="6" actId="1076"/>
        <pc:sldMkLst>
          <pc:docMk/>
          <pc:sldMk cId="3747778054" sldId="261"/>
        </pc:sldMkLst>
        <pc:picChg chg="add mod">
          <ac:chgData name="Joshua Webber" userId="e1b66f99fb3743e3" providerId="LiveId" clId="{788E0482-64AB-4CBD-ACEF-74E7F97EC908}" dt="2026-04-27T02:28:32.975" v="6" actId="1076"/>
          <ac:picMkLst>
            <pc:docMk/>
            <pc:sldMk cId="3747778054" sldId="261"/>
            <ac:picMk id="11" creationId="{89EBF977-A216-BBDE-8CA4-73D2BEA2F3B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32F74C-7C50-4C5F-868E-5C0D805C540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8A9FE0-4259-4965-82D3-12106A132577}">
      <dgm:prSet/>
      <dgm:spPr/>
      <dgm:t>
        <a:bodyPr/>
        <a:lstStyle/>
        <a:p>
          <a:r>
            <a:rPr lang="en-US" b="0" i="0"/>
            <a:t>1. Incoming Email</a:t>
          </a:r>
          <a:endParaRPr lang="en-US"/>
        </a:p>
      </dgm:t>
    </dgm:pt>
    <dgm:pt modelId="{B2958906-9498-4A75-8533-27E028391DDA}" type="parTrans" cxnId="{3BBDE048-DA43-4AB0-9656-872DF69DF2B7}">
      <dgm:prSet/>
      <dgm:spPr/>
      <dgm:t>
        <a:bodyPr/>
        <a:lstStyle/>
        <a:p>
          <a:endParaRPr lang="en-US"/>
        </a:p>
      </dgm:t>
    </dgm:pt>
    <dgm:pt modelId="{53C1611D-50D4-48A0-AB7A-83542B407B86}" type="sibTrans" cxnId="{3BBDE048-DA43-4AB0-9656-872DF69DF2B7}">
      <dgm:prSet/>
      <dgm:spPr/>
      <dgm:t>
        <a:bodyPr/>
        <a:lstStyle/>
        <a:p>
          <a:endParaRPr lang="en-US"/>
        </a:p>
      </dgm:t>
    </dgm:pt>
    <dgm:pt modelId="{FEB7F4AA-65E9-4340-ACF9-F2C87EB999AC}">
      <dgm:prSet/>
      <dgm:spPr/>
      <dgm:t>
        <a:bodyPr/>
        <a:lstStyle/>
        <a:p>
          <a:r>
            <a:rPr lang="en-US" b="0" i="0"/>
            <a:t>2. Feature Extraction (headers, links, body text, etc.)</a:t>
          </a:r>
          <a:endParaRPr lang="en-US"/>
        </a:p>
      </dgm:t>
    </dgm:pt>
    <dgm:pt modelId="{9C9B7D9F-1895-4327-8B83-F6A39D4CDFE4}" type="parTrans" cxnId="{6E1E65BC-2948-495D-928B-7AC1B146AF16}">
      <dgm:prSet/>
      <dgm:spPr/>
      <dgm:t>
        <a:bodyPr/>
        <a:lstStyle/>
        <a:p>
          <a:endParaRPr lang="en-US"/>
        </a:p>
      </dgm:t>
    </dgm:pt>
    <dgm:pt modelId="{44C696F6-8E91-4B21-ADB0-DC39B2E5D96A}" type="sibTrans" cxnId="{6E1E65BC-2948-495D-928B-7AC1B146AF16}">
      <dgm:prSet/>
      <dgm:spPr/>
      <dgm:t>
        <a:bodyPr/>
        <a:lstStyle/>
        <a:p>
          <a:endParaRPr lang="en-US"/>
        </a:p>
      </dgm:t>
    </dgm:pt>
    <dgm:pt modelId="{39804B1E-0BBD-4447-8D5D-A0E897179F5F}">
      <dgm:prSet/>
      <dgm:spPr/>
      <dgm:t>
        <a:bodyPr/>
        <a:lstStyle/>
        <a:p>
          <a:r>
            <a:rPr lang="en-US" b="0" i="0"/>
            <a:t>3. AI Classification Model (phishing/legitimate)</a:t>
          </a:r>
          <a:endParaRPr lang="en-US"/>
        </a:p>
      </dgm:t>
    </dgm:pt>
    <dgm:pt modelId="{C905F694-9D3B-4E8B-9D80-CDF68AA52BD5}" type="parTrans" cxnId="{0778F8A5-4956-4D45-BD6A-F5E983BAC2A8}">
      <dgm:prSet/>
      <dgm:spPr/>
      <dgm:t>
        <a:bodyPr/>
        <a:lstStyle/>
        <a:p>
          <a:endParaRPr lang="en-US"/>
        </a:p>
      </dgm:t>
    </dgm:pt>
    <dgm:pt modelId="{508A8486-D94D-4D37-ABCE-4A2FA2431CF0}" type="sibTrans" cxnId="{0778F8A5-4956-4D45-BD6A-F5E983BAC2A8}">
      <dgm:prSet/>
      <dgm:spPr/>
      <dgm:t>
        <a:bodyPr/>
        <a:lstStyle/>
        <a:p>
          <a:endParaRPr lang="en-US"/>
        </a:p>
      </dgm:t>
    </dgm:pt>
    <dgm:pt modelId="{0DBAFC4A-AC21-4CB3-9D4A-2803E7ECBB35}">
      <dgm:prSet/>
      <dgm:spPr/>
      <dgm:t>
        <a:bodyPr/>
        <a:lstStyle/>
        <a:p>
          <a:r>
            <a:rPr lang="en-US" b="0" i="0"/>
            <a:t>4. Explainability Module</a:t>
          </a:r>
          <a:endParaRPr lang="en-US"/>
        </a:p>
      </dgm:t>
    </dgm:pt>
    <dgm:pt modelId="{5FE87F6B-668A-47F6-8148-CE2A93272E44}" type="parTrans" cxnId="{D39513B5-794F-449E-8474-4D7002B97A17}">
      <dgm:prSet/>
      <dgm:spPr/>
      <dgm:t>
        <a:bodyPr/>
        <a:lstStyle/>
        <a:p>
          <a:endParaRPr lang="en-US"/>
        </a:p>
      </dgm:t>
    </dgm:pt>
    <dgm:pt modelId="{9CACD042-8106-4668-81EF-98A175DA185C}" type="sibTrans" cxnId="{D39513B5-794F-449E-8474-4D7002B97A17}">
      <dgm:prSet/>
      <dgm:spPr/>
      <dgm:t>
        <a:bodyPr/>
        <a:lstStyle/>
        <a:p>
          <a:endParaRPr lang="en-US"/>
        </a:p>
      </dgm:t>
    </dgm:pt>
    <dgm:pt modelId="{68C37D66-5359-446B-B696-2E690698DB67}">
      <dgm:prSet/>
      <dgm:spPr/>
      <dgm:t>
        <a:bodyPr/>
        <a:lstStyle/>
        <a:p>
          <a:r>
            <a:rPr lang="en-US" b="0" i="0"/>
            <a:t>5. User / Analyst Alert</a:t>
          </a:r>
          <a:endParaRPr lang="en-US"/>
        </a:p>
      </dgm:t>
    </dgm:pt>
    <dgm:pt modelId="{3FE0963F-46D1-4EED-904F-02749808D923}" type="parTrans" cxnId="{8CB9C3DE-B1BE-4F32-84EC-764154BE8D3A}">
      <dgm:prSet/>
      <dgm:spPr/>
      <dgm:t>
        <a:bodyPr/>
        <a:lstStyle/>
        <a:p>
          <a:endParaRPr lang="en-US"/>
        </a:p>
      </dgm:t>
    </dgm:pt>
    <dgm:pt modelId="{CA4D0B26-5814-4F0E-8745-6F4B9AEEC11D}" type="sibTrans" cxnId="{8CB9C3DE-B1BE-4F32-84EC-764154BE8D3A}">
      <dgm:prSet/>
      <dgm:spPr/>
      <dgm:t>
        <a:bodyPr/>
        <a:lstStyle/>
        <a:p>
          <a:endParaRPr lang="en-US"/>
        </a:p>
      </dgm:t>
    </dgm:pt>
    <dgm:pt modelId="{72C9815E-6C6A-46E5-BA05-C03D8443E2D2}" type="pres">
      <dgm:prSet presAssocID="{7232F74C-7C50-4C5F-868E-5C0D805C540C}" presName="outerComposite" presStyleCnt="0">
        <dgm:presLayoutVars>
          <dgm:chMax val="5"/>
          <dgm:dir/>
          <dgm:resizeHandles val="exact"/>
        </dgm:presLayoutVars>
      </dgm:prSet>
      <dgm:spPr/>
    </dgm:pt>
    <dgm:pt modelId="{28EB1692-7FB8-4BD5-BDAE-E674266278B9}" type="pres">
      <dgm:prSet presAssocID="{7232F74C-7C50-4C5F-868E-5C0D805C540C}" presName="dummyMaxCanvas" presStyleCnt="0">
        <dgm:presLayoutVars/>
      </dgm:prSet>
      <dgm:spPr/>
    </dgm:pt>
    <dgm:pt modelId="{A0B778A9-CAE0-4186-8558-4F84A3E598ED}" type="pres">
      <dgm:prSet presAssocID="{7232F74C-7C50-4C5F-868E-5C0D805C540C}" presName="FiveNodes_1" presStyleLbl="node1" presStyleIdx="0" presStyleCnt="5">
        <dgm:presLayoutVars>
          <dgm:bulletEnabled val="1"/>
        </dgm:presLayoutVars>
      </dgm:prSet>
      <dgm:spPr/>
    </dgm:pt>
    <dgm:pt modelId="{BF62B96A-0A27-4918-B5E9-5ED87483DC38}" type="pres">
      <dgm:prSet presAssocID="{7232F74C-7C50-4C5F-868E-5C0D805C540C}" presName="FiveNodes_2" presStyleLbl="node1" presStyleIdx="1" presStyleCnt="5">
        <dgm:presLayoutVars>
          <dgm:bulletEnabled val="1"/>
        </dgm:presLayoutVars>
      </dgm:prSet>
      <dgm:spPr/>
    </dgm:pt>
    <dgm:pt modelId="{0289B6D6-7798-4B0A-BB0D-BCFAEE6353D8}" type="pres">
      <dgm:prSet presAssocID="{7232F74C-7C50-4C5F-868E-5C0D805C540C}" presName="FiveNodes_3" presStyleLbl="node1" presStyleIdx="2" presStyleCnt="5">
        <dgm:presLayoutVars>
          <dgm:bulletEnabled val="1"/>
        </dgm:presLayoutVars>
      </dgm:prSet>
      <dgm:spPr/>
    </dgm:pt>
    <dgm:pt modelId="{5AFCAA38-6E12-4365-8E80-4C1F59ED0B56}" type="pres">
      <dgm:prSet presAssocID="{7232F74C-7C50-4C5F-868E-5C0D805C540C}" presName="FiveNodes_4" presStyleLbl="node1" presStyleIdx="3" presStyleCnt="5">
        <dgm:presLayoutVars>
          <dgm:bulletEnabled val="1"/>
        </dgm:presLayoutVars>
      </dgm:prSet>
      <dgm:spPr/>
    </dgm:pt>
    <dgm:pt modelId="{C8FC623C-98A8-47C3-B9BD-2F9B80967BF6}" type="pres">
      <dgm:prSet presAssocID="{7232F74C-7C50-4C5F-868E-5C0D805C540C}" presName="FiveNodes_5" presStyleLbl="node1" presStyleIdx="4" presStyleCnt="5">
        <dgm:presLayoutVars>
          <dgm:bulletEnabled val="1"/>
        </dgm:presLayoutVars>
      </dgm:prSet>
      <dgm:spPr/>
    </dgm:pt>
    <dgm:pt modelId="{70244046-C3D1-43E9-8680-8049E01757CC}" type="pres">
      <dgm:prSet presAssocID="{7232F74C-7C50-4C5F-868E-5C0D805C540C}" presName="FiveConn_1-2" presStyleLbl="fgAccFollowNode1" presStyleIdx="0" presStyleCnt="4">
        <dgm:presLayoutVars>
          <dgm:bulletEnabled val="1"/>
        </dgm:presLayoutVars>
      </dgm:prSet>
      <dgm:spPr/>
    </dgm:pt>
    <dgm:pt modelId="{3B89782E-98F6-4B86-B670-7D5F61B4BC84}" type="pres">
      <dgm:prSet presAssocID="{7232F74C-7C50-4C5F-868E-5C0D805C540C}" presName="FiveConn_2-3" presStyleLbl="fgAccFollowNode1" presStyleIdx="1" presStyleCnt="4">
        <dgm:presLayoutVars>
          <dgm:bulletEnabled val="1"/>
        </dgm:presLayoutVars>
      </dgm:prSet>
      <dgm:spPr/>
    </dgm:pt>
    <dgm:pt modelId="{C83388AA-F386-4CAA-9D4B-6C7A5E1ACB8D}" type="pres">
      <dgm:prSet presAssocID="{7232F74C-7C50-4C5F-868E-5C0D805C540C}" presName="FiveConn_3-4" presStyleLbl="fgAccFollowNode1" presStyleIdx="2" presStyleCnt="4">
        <dgm:presLayoutVars>
          <dgm:bulletEnabled val="1"/>
        </dgm:presLayoutVars>
      </dgm:prSet>
      <dgm:spPr/>
    </dgm:pt>
    <dgm:pt modelId="{A33620AF-49C7-49DA-A858-5944F04B0DAC}" type="pres">
      <dgm:prSet presAssocID="{7232F74C-7C50-4C5F-868E-5C0D805C540C}" presName="FiveConn_4-5" presStyleLbl="fgAccFollowNode1" presStyleIdx="3" presStyleCnt="4">
        <dgm:presLayoutVars>
          <dgm:bulletEnabled val="1"/>
        </dgm:presLayoutVars>
      </dgm:prSet>
      <dgm:spPr/>
    </dgm:pt>
    <dgm:pt modelId="{E3D842F2-CD48-4706-833D-7FB835341E37}" type="pres">
      <dgm:prSet presAssocID="{7232F74C-7C50-4C5F-868E-5C0D805C540C}" presName="FiveNodes_1_text" presStyleLbl="node1" presStyleIdx="4" presStyleCnt="5">
        <dgm:presLayoutVars>
          <dgm:bulletEnabled val="1"/>
        </dgm:presLayoutVars>
      </dgm:prSet>
      <dgm:spPr/>
    </dgm:pt>
    <dgm:pt modelId="{48FA098B-1FB2-4A02-9984-2A34AC6CD88A}" type="pres">
      <dgm:prSet presAssocID="{7232F74C-7C50-4C5F-868E-5C0D805C540C}" presName="FiveNodes_2_text" presStyleLbl="node1" presStyleIdx="4" presStyleCnt="5">
        <dgm:presLayoutVars>
          <dgm:bulletEnabled val="1"/>
        </dgm:presLayoutVars>
      </dgm:prSet>
      <dgm:spPr/>
    </dgm:pt>
    <dgm:pt modelId="{C390FB87-34C8-4784-92E2-9F0924182CBE}" type="pres">
      <dgm:prSet presAssocID="{7232F74C-7C50-4C5F-868E-5C0D805C540C}" presName="FiveNodes_3_text" presStyleLbl="node1" presStyleIdx="4" presStyleCnt="5">
        <dgm:presLayoutVars>
          <dgm:bulletEnabled val="1"/>
        </dgm:presLayoutVars>
      </dgm:prSet>
      <dgm:spPr/>
    </dgm:pt>
    <dgm:pt modelId="{3598425D-2B54-43B9-B8B8-3363F27A0617}" type="pres">
      <dgm:prSet presAssocID="{7232F74C-7C50-4C5F-868E-5C0D805C540C}" presName="FiveNodes_4_text" presStyleLbl="node1" presStyleIdx="4" presStyleCnt="5">
        <dgm:presLayoutVars>
          <dgm:bulletEnabled val="1"/>
        </dgm:presLayoutVars>
      </dgm:prSet>
      <dgm:spPr/>
    </dgm:pt>
    <dgm:pt modelId="{6E8A6E08-1E2A-4DA0-B001-81FA49A39358}" type="pres">
      <dgm:prSet presAssocID="{7232F74C-7C50-4C5F-868E-5C0D805C540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284AC06-2B7A-42BC-927A-284EDA0637D3}" type="presOf" srcId="{7232F74C-7C50-4C5F-868E-5C0D805C540C}" destId="{72C9815E-6C6A-46E5-BA05-C03D8443E2D2}" srcOrd="0" destOrd="0" presId="urn:microsoft.com/office/officeart/2005/8/layout/vProcess5"/>
    <dgm:cxn modelId="{F5C91117-BEBA-4511-AC94-3A5F839BC0FC}" type="presOf" srcId="{0DBAFC4A-AC21-4CB3-9D4A-2803E7ECBB35}" destId="{3598425D-2B54-43B9-B8B8-3363F27A0617}" srcOrd="1" destOrd="0" presId="urn:microsoft.com/office/officeart/2005/8/layout/vProcess5"/>
    <dgm:cxn modelId="{AED8761C-E141-43D5-9333-4E0E07C51302}" type="presOf" srcId="{53C1611D-50D4-48A0-AB7A-83542B407B86}" destId="{70244046-C3D1-43E9-8680-8049E01757CC}" srcOrd="0" destOrd="0" presId="urn:microsoft.com/office/officeart/2005/8/layout/vProcess5"/>
    <dgm:cxn modelId="{FEDF6F22-378B-4671-93D2-52F4CB1E869A}" type="presOf" srcId="{0DBAFC4A-AC21-4CB3-9D4A-2803E7ECBB35}" destId="{5AFCAA38-6E12-4365-8E80-4C1F59ED0B56}" srcOrd="0" destOrd="0" presId="urn:microsoft.com/office/officeart/2005/8/layout/vProcess5"/>
    <dgm:cxn modelId="{31249F60-CE8B-4918-BFD3-33283EED5834}" type="presOf" srcId="{39804B1E-0BBD-4447-8D5D-A0E897179F5F}" destId="{C390FB87-34C8-4784-92E2-9F0924182CBE}" srcOrd="1" destOrd="0" presId="urn:microsoft.com/office/officeart/2005/8/layout/vProcess5"/>
    <dgm:cxn modelId="{23FE0364-1059-4025-BBFB-6ABE9590583C}" type="presOf" srcId="{FEB7F4AA-65E9-4340-ACF9-F2C87EB999AC}" destId="{48FA098B-1FB2-4A02-9984-2A34AC6CD88A}" srcOrd="1" destOrd="0" presId="urn:microsoft.com/office/officeart/2005/8/layout/vProcess5"/>
    <dgm:cxn modelId="{45976045-613D-46C9-9AF7-663084223C5C}" type="presOf" srcId="{508A8486-D94D-4D37-ABCE-4A2FA2431CF0}" destId="{C83388AA-F386-4CAA-9D4B-6C7A5E1ACB8D}" srcOrd="0" destOrd="0" presId="urn:microsoft.com/office/officeart/2005/8/layout/vProcess5"/>
    <dgm:cxn modelId="{3BBDE048-DA43-4AB0-9656-872DF69DF2B7}" srcId="{7232F74C-7C50-4C5F-868E-5C0D805C540C}" destId="{4F8A9FE0-4259-4965-82D3-12106A132577}" srcOrd="0" destOrd="0" parTransId="{B2958906-9498-4A75-8533-27E028391DDA}" sibTransId="{53C1611D-50D4-48A0-AB7A-83542B407B86}"/>
    <dgm:cxn modelId="{3774866D-1D90-43B0-89ED-236E6BF1C308}" type="presOf" srcId="{39804B1E-0BBD-4447-8D5D-A0E897179F5F}" destId="{0289B6D6-7798-4B0A-BB0D-BCFAEE6353D8}" srcOrd="0" destOrd="0" presId="urn:microsoft.com/office/officeart/2005/8/layout/vProcess5"/>
    <dgm:cxn modelId="{A57A5A56-4B1B-4818-BCBC-A7BF70327AD4}" type="presOf" srcId="{4F8A9FE0-4259-4965-82D3-12106A132577}" destId="{E3D842F2-CD48-4706-833D-7FB835341E37}" srcOrd="1" destOrd="0" presId="urn:microsoft.com/office/officeart/2005/8/layout/vProcess5"/>
    <dgm:cxn modelId="{5332BC92-4E0D-46D6-8B9F-019FACF7BCC2}" type="presOf" srcId="{68C37D66-5359-446B-B696-2E690698DB67}" destId="{C8FC623C-98A8-47C3-B9BD-2F9B80967BF6}" srcOrd="0" destOrd="0" presId="urn:microsoft.com/office/officeart/2005/8/layout/vProcess5"/>
    <dgm:cxn modelId="{0778F8A5-4956-4D45-BD6A-F5E983BAC2A8}" srcId="{7232F74C-7C50-4C5F-868E-5C0D805C540C}" destId="{39804B1E-0BBD-4447-8D5D-A0E897179F5F}" srcOrd="2" destOrd="0" parTransId="{C905F694-9D3B-4E8B-9D80-CDF68AA52BD5}" sibTransId="{508A8486-D94D-4D37-ABCE-4A2FA2431CF0}"/>
    <dgm:cxn modelId="{56B807A7-4253-48A8-A70C-88D2E273ABE9}" type="presOf" srcId="{9CACD042-8106-4668-81EF-98A175DA185C}" destId="{A33620AF-49C7-49DA-A858-5944F04B0DAC}" srcOrd="0" destOrd="0" presId="urn:microsoft.com/office/officeart/2005/8/layout/vProcess5"/>
    <dgm:cxn modelId="{D39513B5-794F-449E-8474-4D7002B97A17}" srcId="{7232F74C-7C50-4C5F-868E-5C0D805C540C}" destId="{0DBAFC4A-AC21-4CB3-9D4A-2803E7ECBB35}" srcOrd="3" destOrd="0" parTransId="{5FE87F6B-668A-47F6-8148-CE2A93272E44}" sibTransId="{9CACD042-8106-4668-81EF-98A175DA185C}"/>
    <dgm:cxn modelId="{6E1E65BC-2948-495D-928B-7AC1B146AF16}" srcId="{7232F74C-7C50-4C5F-868E-5C0D805C540C}" destId="{FEB7F4AA-65E9-4340-ACF9-F2C87EB999AC}" srcOrd="1" destOrd="0" parTransId="{9C9B7D9F-1895-4327-8B83-F6A39D4CDFE4}" sibTransId="{44C696F6-8E91-4B21-ADB0-DC39B2E5D96A}"/>
    <dgm:cxn modelId="{BD50B4C0-7A8C-41B7-82E5-984A437DE8ED}" type="presOf" srcId="{FEB7F4AA-65E9-4340-ACF9-F2C87EB999AC}" destId="{BF62B96A-0A27-4918-B5E9-5ED87483DC38}" srcOrd="0" destOrd="0" presId="urn:microsoft.com/office/officeart/2005/8/layout/vProcess5"/>
    <dgm:cxn modelId="{360D6BD1-36A3-4F7C-BB17-30E7FE317B57}" type="presOf" srcId="{44C696F6-8E91-4B21-ADB0-DC39B2E5D96A}" destId="{3B89782E-98F6-4B86-B670-7D5F61B4BC84}" srcOrd="0" destOrd="0" presId="urn:microsoft.com/office/officeart/2005/8/layout/vProcess5"/>
    <dgm:cxn modelId="{8D5302D6-1FA6-4770-88BB-4DF380054339}" type="presOf" srcId="{4F8A9FE0-4259-4965-82D3-12106A132577}" destId="{A0B778A9-CAE0-4186-8558-4F84A3E598ED}" srcOrd="0" destOrd="0" presId="urn:microsoft.com/office/officeart/2005/8/layout/vProcess5"/>
    <dgm:cxn modelId="{8CB9C3DE-B1BE-4F32-84EC-764154BE8D3A}" srcId="{7232F74C-7C50-4C5F-868E-5C0D805C540C}" destId="{68C37D66-5359-446B-B696-2E690698DB67}" srcOrd="4" destOrd="0" parTransId="{3FE0963F-46D1-4EED-904F-02749808D923}" sibTransId="{CA4D0B26-5814-4F0E-8745-6F4B9AEEC11D}"/>
    <dgm:cxn modelId="{6733F8F5-CA67-4862-ACDE-27D327634B70}" type="presOf" srcId="{68C37D66-5359-446B-B696-2E690698DB67}" destId="{6E8A6E08-1E2A-4DA0-B001-81FA49A39358}" srcOrd="1" destOrd="0" presId="urn:microsoft.com/office/officeart/2005/8/layout/vProcess5"/>
    <dgm:cxn modelId="{F2205916-1839-46CA-8F12-0320B9D57A75}" type="presParOf" srcId="{72C9815E-6C6A-46E5-BA05-C03D8443E2D2}" destId="{28EB1692-7FB8-4BD5-BDAE-E674266278B9}" srcOrd="0" destOrd="0" presId="urn:microsoft.com/office/officeart/2005/8/layout/vProcess5"/>
    <dgm:cxn modelId="{BB15825F-4670-4042-886C-B9C5FCBF791D}" type="presParOf" srcId="{72C9815E-6C6A-46E5-BA05-C03D8443E2D2}" destId="{A0B778A9-CAE0-4186-8558-4F84A3E598ED}" srcOrd="1" destOrd="0" presId="urn:microsoft.com/office/officeart/2005/8/layout/vProcess5"/>
    <dgm:cxn modelId="{75A34A5C-DBCC-48D8-AFDD-7823E7FED6B0}" type="presParOf" srcId="{72C9815E-6C6A-46E5-BA05-C03D8443E2D2}" destId="{BF62B96A-0A27-4918-B5E9-5ED87483DC38}" srcOrd="2" destOrd="0" presId="urn:microsoft.com/office/officeart/2005/8/layout/vProcess5"/>
    <dgm:cxn modelId="{225D139E-AB08-4B90-9186-B0471FB58693}" type="presParOf" srcId="{72C9815E-6C6A-46E5-BA05-C03D8443E2D2}" destId="{0289B6D6-7798-4B0A-BB0D-BCFAEE6353D8}" srcOrd="3" destOrd="0" presId="urn:microsoft.com/office/officeart/2005/8/layout/vProcess5"/>
    <dgm:cxn modelId="{580FF679-AF0B-4C7D-B4DF-C97487E2B021}" type="presParOf" srcId="{72C9815E-6C6A-46E5-BA05-C03D8443E2D2}" destId="{5AFCAA38-6E12-4365-8E80-4C1F59ED0B56}" srcOrd="4" destOrd="0" presId="urn:microsoft.com/office/officeart/2005/8/layout/vProcess5"/>
    <dgm:cxn modelId="{E96C7CED-F28C-4328-AB8E-07FE0B2B2F62}" type="presParOf" srcId="{72C9815E-6C6A-46E5-BA05-C03D8443E2D2}" destId="{C8FC623C-98A8-47C3-B9BD-2F9B80967BF6}" srcOrd="5" destOrd="0" presId="urn:microsoft.com/office/officeart/2005/8/layout/vProcess5"/>
    <dgm:cxn modelId="{5F520FD0-3D62-40AD-B0A6-E1F10FDE9AA0}" type="presParOf" srcId="{72C9815E-6C6A-46E5-BA05-C03D8443E2D2}" destId="{70244046-C3D1-43E9-8680-8049E01757CC}" srcOrd="6" destOrd="0" presId="urn:microsoft.com/office/officeart/2005/8/layout/vProcess5"/>
    <dgm:cxn modelId="{EE0199EB-B9E3-4032-AC6E-6DFADCD06EA2}" type="presParOf" srcId="{72C9815E-6C6A-46E5-BA05-C03D8443E2D2}" destId="{3B89782E-98F6-4B86-B670-7D5F61B4BC84}" srcOrd="7" destOrd="0" presId="urn:microsoft.com/office/officeart/2005/8/layout/vProcess5"/>
    <dgm:cxn modelId="{7C2B785F-F9FE-40FD-9D4F-664A65B3386D}" type="presParOf" srcId="{72C9815E-6C6A-46E5-BA05-C03D8443E2D2}" destId="{C83388AA-F386-4CAA-9D4B-6C7A5E1ACB8D}" srcOrd="8" destOrd="0" presId="urn:microsoft.com/office/officeart/2005/8/layout/vProcess5"/>
    <dgm:cxn modelId="{3068D9DA-12C4-452A-943F-F087C2C693F1}" type="presParOf" srcId="{72C9815E-6C6A-46E5-BA05-C03D8443E2D2}" destId="{A33620AF-49C7-49DA-A858-5944F04B0DAC}" srcOrd="9" destOrd="0" presId="urn:microsoft.com/office/officeart/2005/8/layout/vProcess5"/>
    <dgm:cxn modelId="{8E269D26-6B5C-4475-AE27-1DF242285F42}" type="presParOf" srcId="{72C9815E-6C6A-46E5-BA05-C03D8443E2D2}" destId="{E3D842F2-CD48-4706-833D-7FB835341E37}" srcOrd="10" destOrd="0" presId="urn:microsoft.com/office/officeart/2005/8/layout/vProcess5"/>
    <dgm:cxn modelId="{1955C493-A921-41D1-AE15-4C197D254A5F}" type="presParOf" srcId="{72C9815E-6C6A-46E5-BA05-C03D8443E2D2}" destId="{48FA098B-1FB2-4A02-9984-2A34AC6CD88A}" srcOrd="11" destOrd="0" presId="urn:microsoft.com/office/officeart/2005/8/layout/vProcess5"/>
    <dgm:cxn modelId="{02F52677-D3E0-4571-9D9C-C7D128866FA5}" type="presParOf" srcId="{72C9815E-6C6A-46E5-BA05-C03D8443E2D2}" destId="{C390FB87-34C8-4784-92E2-9F0924182CBE}" srcOrd="12" destOrd="0" presId="urn:microsoft.com/office/officeart/2005/8/layout/vProcess5"/>
    <dgm:cxn modelId="{13E0993F-E80B-4BC3-BAA9-3F648B03A7C0}" type="presParOf" srcId="{72C9815E-6C6A-46E5-BA05-C03D8443E2D2}" destId="{3598425D-2B54-43B9-B8B8-3363F27A0617}" srcOrd="13" destOrd="0" presId="urn:microsoft.com/office/officeart/2005/8/layout/vProcess5"/>
    <dgm:cxn modelId="{D08994EB-9400-4EFC-BF88-4C962534240F}" type="presParOf" srcId="{72C9815E-6C6A-46E5-BA05-C03D8443E2D2}" destId="{6E8A6E08-1E2A-4DA0-B001-81FA49A3935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778A9-CAE0-4186-8558-4F84A3E598ED}">
      <dsp:nvSpPr>
        <dsp:cNvPr id="0" name=""/>
        <dsp:cNvSpPr/>
      </dsp:nvSpPr>
      <dsp:spPr>
        <a:xfrm>
          <a:off x="0" y="0"/>
          <a:ext cx="4000917" cy="822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1. Incoming Email</a:t>
          </a:r>
          <a:endParaRPr lang="en-US" sz="1500" kern="1200"/>
        </a:p>
      </dsp:txBody>
      <dsp:txXfrm>
        <a:off x="24104" y="24104"/>
        <a:ext cx="3016592" cy="774752"/>
      </dsp:txXfrm>
    </dsp:sp>
    <dsp:sp modelId="{BF62B96A-0A27-4918-B5E9-5ED87483DC38}">
      <dsp:nvSpPr>
        <dsp:cNvPr id="0" name=""/>
        <dsp:cNvSpPr/>
      </dsp:nvSpPr>
      <dsp:spPr>
        <a:xfrm>
          <a:off x="298769" y="937260"/>
          <a:ext cx="4000917" cy="822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2. Feature Extraction (headers, links, body text, etc.)</a:t>
          </a:r>
          <a:endParaRPr lang="en-US" sz="1500" kern="1200"/>
        </a:p>
      </dsp:txBody>
      <dsp:txXfrm>
        <a:off x="322873" y="961364"/>
        <a:ext cx="3119015" cy="774752"/>
      </dsp:txXfrm>
    </dsp:sp>
    <dsp:sp modelId="{0289B6D6-7798-4B0A-BB0D-BCFAEE6353D8}">
      <dsp:nvSpPr>
        <dsp:cNvPr id="0" name=""/>
        <dsp:cNvSpPr/>
      </dsp:nvSpPr>
      <dsp:spPr>
        <a:xfrm>
          <a:off x="597539" y="1874520"/>
          <a:ext cx="4000917" cy="822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3. AI Classification Model (phishing/legitimate)</a:t>
          </a:r>
          <a:endParaRPr lang="en-US" sz="1500" kern="1200"/>
        </a:p>
      </dsp:txBody>
      <dsp:txXfrm>
        <a:off x="621643" y="1898624"/>
        <a:ext cx="3119015" cy="774752"/>
      </dsp:txXfrm>
    </dsp:sp>
    <dsp:sp modelId="{5AFCAA38-6E12-4365-8E80-4C1F59ED0B56}">
      <dsp:nvSpPr>
        <dsp:cNvPr id="0" name=""/>
        <dsp:cNvSpPr/>
      </dsp:nvSpPr>
      <dsp:spPr>
        <a:xfrm>
          <a:off x="896309" y="2811780"/>
          <a:ext cx="4000917" cy="822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4. Explainability Module</a:t>
          </a:r>
          <a:endParaRPr lang="en-US" sz="1500" kern="1200"/>
        </a:p>
      </dsp:txBody>
      <dsp:txXfrm>
        <a:off x="920413" y="2835884"/>
        <a:ext cx="3119015" cy="774752"/>
      </dsp:txXfrm>
    </dsp:sp>
    <dsp:sp modelId="{C8FC623C-98A8-47C3-B9BD-2F9B80967BF6}">
      <dsp:nvSpPr>
        <dsp:cNvPr id="0" name=""/>
        <dsp:cNvSpPr/>
      </dsp:nvSpPr>
      <dsp:spPr>
        <a:xfrm>
          <a:off x="1195079" y="3749040"/>
          <a:ext cx="4000917" cy="822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5. User / Analyst Alert</a:t>
          </a:r>
          <a:endParaRPr lang="en-US" sz="1500" kern="1200"/>
        </a:p>
      </dsp:txBody>
      <dsp:txXfrm>
        <a:off x="1219183" y="3773144"/>
        <a:ext cx="3119015" cy="774752"/>
      </dsp:txXfrm>
    </dsp:sp>
    <dsp:sp modelId="{70244046-C3D1-43E9-8680-8049E01757CC}">
      <dsp:nvSpPr>
        <dsp:cNvPr id="0" name=""/>
        <dsp:cNvSpPr/>
      </dsp:nvSpPr>
      <dsp:spPr>
        <a:xfrm>
          <a:off x="3465993" y="601217"/>
          <a:ext cx="534924" cy="53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586351" y="601217"/>
        <a:ext cx="294208" cy="402530"/>
      </dsp:txXfrm>
    </dsp:sp>
    <dsp:sp modelId="{3B89782E-98F6-4B86-B670-7D5F61B4BC84}">
      <dsp:nvSpPr>
        <dsp:cNvPr id="0" name=""/>
        <dsp:cNvSpPr/>
      </dsp:nvSpPr>
      <dsp:spPr>
        <a:xfrm>
          <a:off x="3764763" y="1538478"/>
          <a:ext cx="534924" cy="53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885121" y="1538478"/>
        <a:ext cx="294208" cy="402530"/>
      </dsp:txXfrm>
    </dsp:sp>
    <dsp:sp modelId="{C83388AA-F386-4CAA-9D4B-6C7A5E1ACB8D}">
      <dsp:nvSpPr>
        <dsp:cNvPr id="0" name=""/>
        <dsp:cNvSpPr/>
      </dsp:nvSpPr>
      <dsp:spPr>
        <a:xfrm>
          <a:off x="4063533" y="2462022"/>
          <a:ext cx="534924" cy="53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183891" y="2462022"/>
        <a:ext cx="294208" cy="402530"/>
      </dsp:txXfrm>
    </dsp:sp>
    <dsp:sp modelId="{A33620AF-49C7-49DA-A858-5944F04B0DAC}">
      <dsp:nvSpPr>
        <dsp:cNvPr id="0" name=""/>
        <dsp:cNvSpPr/>
      </dsp:nvSpPr>
      <dsp:spPr>
        <a:xfrm>
          <a:off x="4362303" y="3408426"/>
          <a:ext cx="534924" cy="53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482661" y="3408426"/>
        <a:ext cx="294208" cy="402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9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3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0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6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0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0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2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5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81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80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72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96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13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13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C45F049-572A-4965-8CE8-C8B561D0985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E8D17-E56F-49B2-8240-02177D5D6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6C94-3348-39C3-582C-C91A8A989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AI-Based Phishing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3F848-7BBF-51CC-A570-0457AD6C0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Muhammad Chaudry</a:t>
            </a:r>
          </a:p>
          <a:p>
            <a:r>
              <a:rPr lang="en-US" sz="1400" dirty="0"/>
              <a:t>Joshua Webber</a:t>
            </a:r>
          </a:p>
          <a:p>
            <a:r>
              <a:rPr lang="en-US" sz="1400" dirty="0"/>
              <a:t>Yaseen Allan</a:t>
            </a:r>
          </a:p>
          <a:p>
            <a:r>
              <a:rPr lang="en-US" sz="1400" dirty="0"/>
              <a:t>Sufyan Imran</a:t>
            </a:r>
          </a:p>
        </p:txBody>
      </p:sp>
    </p:spTree>
    <p:extLst>
      <p:ext uri="{BB962C8B-B14F-4D97-AF65-F5344CB8AC3E}">
        <p14:creationId xmlns:p14="http://schemas.microsoft.com/office/powerpoint/2010/main" val="1056063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B7C8-CABC-320D-5BFC-646C7A03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71FF-E11F-BE5D-9F86-90EC75AD6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anti-phishing techniques/tools prove themselves to be lackluster.</a:t>
            </a:r>
          </a:p>
          <a:p>
            <a:pPr lvl="1"/>
            <a:r>
              <a:rPr lang="en-US" dirty="0"/>
              <a:t>Rule-based filters often miss sophisticated variants.</a:t>
            </a:r>
          </a:p>
          <a:p>
            <a:pPr lvl="1"/>
            <a:r>
              <a:rPr lang="en-US" dirty="0"/>
              <a:t>High false positive rates are produced.</a:t>
            </a:r>
          </a:p>
          <a:p>
            <a:pPr lvl="1"/>
            <a:r>
              <a:rPr lang="en-US" dirty="0"/>
              <a:t>Lacks explanations as to why something is flagged.</a:t>
            </a:r>
          </a:p>
          <a:p>
            <a:pPr lvl="2"/>
            <a:r>
              <a:rPr lang="en-US" dirty="0"/>
              <a:t>A user becomes more vulnerable without education.</a:t>
            </a:r>
          </a:p>
          <a:p>
            <a:pPr lvl="1"/>
            <a:r>
              <a:rPr lang="en-US" dirty="0"/>
              <a:t>Consistent need to update manually-added rule/condition sets.</a:t>
            </a:r>
          </a:p>
          <a:p>
            <a:r>
              <a:rPr lang="en-US" dirty="0"/>
              <a:t>There is an apparent need to solve the inefficiency and inaccuracy of current systems.</a:t>
            </a:r>
          </a:p>
        </p:txBody>
      </p:sp>
    </p:spTree>
    <p:extLst>
      <p:ext uri="{BB962C8B-B14F-4D97-AF65-F5344CB8AC3E}">
        <p14:creationId xmlns:p14="http://schemas.microsoft.com/office/powerpoint/2010/main" val="147569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CABD-5F0F-2F08-9893-BF180B26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A8DBE95-29D2-DA73-C712-C286A1040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166618"/>
              </p:ext>
            </p:extLst>
          </p:nvPr>
        </p:nvGraphicFramePr>
        <p:xfrm>
          <a:off x="4784616" y="1447800"/>
          <a:ext cx="5195997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E6F37-2E34-6103-2CE7-60081952B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provided pipeline describes the chronological order our model goes through.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Provides: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Quality phishing verdicts.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Human-readable explanation.</a:t>
            </a:r>
          </a:p>
          <a:p>
            <a:pPr marL="285750" indent="-285750">
              <a:buFontTx/>
              <a:buChar char="-"/>
            </a:pPr>
            <a:r>
              <a:rPr lang="en-US" dirty="0"/>
              <a:t>Benefits: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Builds trust.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Visibility into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96724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7A672-12FE-AD3E-B92A-E5985FA8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dirty="0"/>
              <a:t>Critical Assets + Risks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DBC95E-46A5-C87C-6C8A-8D51290CD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4675" y="1905000"/>
            <a:ext cx="4395788" cy="576263"/>
          </a:xfrm>
        </p:spPr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EADEC-8FCC-97FC-6F69-B8EEE261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5787" cy="576263"/>
          </a:xfrm>
        </p:spPr>
        <p:txBody>
          <a:bodyPr/>
          <a:lstStyle/>
          <a:p>
            <a:r>
              <a:rPr lang="en-US" dirty="0"/>
              <a:t>Assets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180DC1-7678-777B-F48E-37105C607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3313" y="2514600"/>
            <a:ext cx="4395787" cy="3741738"/>
          </a:xfrm>
        </p:spPr>
        <p:txBody>
          <a:bodyPr/>
          <a:lstStyle/>
          <a:p>
            <a:r>
              <a:rPr lang="en-US" dirty="0"/>
              <a:t>User Credentials</a:t>
            </a:r>
          </a:p>
          <a:p>
            <a:r>
              <a:rPr lang="en-US" dirty="0"/>
              <a:t>Corporate Emails</a:t>
            </a:r>
          </a:p>
          <a:p>
            <a:r>
              <a:rPr lang="en-US" dirty="0"/>
              <a:t>AI Modelling</a:t>
            </a:r>
          </a:p>
          <a:p>
            <a:r>
              <a:rPr lang="en-US" dirty="0"/>
              <a:t>Training Datasets</a:t>
            </a:r>
          </a:p>
          <a:p>
            <a:r>
              <a:rPr lang="en-US" dirty="0"/>
              <a:t>Internal Network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51C177-D78E-FFB1-15A8-91D11EFD5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28450" y="2481263"/>
            <a:ext cx="4395788" cy="3741738"/>
          </a:xfrm>
        </p:spPr>
        <p:txBody>
          <a:bodyPr/>
          <a:lstStyle/>
          <a:p>
            <a:r>
              <a:rPr lang="en-US" dirty="0"/>
              <a:t>Credential Harvesting</a:t>
            </a:r>
          </a:p>
          <a:p>
            <a:r>
              <a:rPr lang="en-US" dirty="0"/>
              <a:t>Lateral Movement</a:t>
            </a:r>
          </a:p>
          <a:p>
            <a:r>
              <a:rPr lang="en-US" dirty="0"/>
              <a:t>Silent Manipulation</a:t>
            </a:r>
          </a:p>
          <a:p>
            <a:r>
              <a:rPr lang="en-US" dirty="0"/>
              <a:t>Data Poisoning</a:t>
            </a:r>
          </a:p>
          <a:p>
            <a:r>
              <a:rPr lang="en-US" dirty="0"/>
              <a:t>Breach/Ransomware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18CEA1-5E0E-BB1E-2615-0508E7F4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50" y="4615261"/>
            <a:ext cx="3726375" cy="20034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2C04FE-836F-7580-FB4C-3A847A985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3" y="4713525"/>
            <a:ext cx="3904216" cy="180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E8C0-8818-BA5F-9D20-13A08F62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Controls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66127D-59A3-D482-B7BE-B7341A38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3645BF-C3AA-D84C-0428-8F16B38E901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CN.1 -&gt; Prevents malformed input.</a:t>
            </a:r>
          </a:p>
          <a:p>
            <a:r>
              <a:rPr lang="en-US" dirty="0"/>
              <a:t>CN.2 -&gt; Detects homograph domains.</a:t>
            </a:r>
          </a:p>
          <a:p>
            <a:r>
              <a:rPr lang="en-US" dirty="0"/>
              <a:t>CN.3 -&gt; Mitigates threshold probing.</a:t>
            </a:r>
          </a:p>
          <a:p>
            <a:r>
              <a:rPr lang="en-US" dirty="0"/>
              <a:t>CN.4 -&gt; Detects insider abuse</a:t>
            </a:r>
          </a:p>
          <a:p>
            <a:r>
              <a:rPr lang="en-US" dirty="0"/>
              <a:t>CN.5 -&gt; Reduces false positive rates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14F04-24B8-891B-09B6-A42898050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F47A7-C00B-4CAE-800C-47035362C7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CN-1. Input Sanitization</a:t>
            </a:r>
          </a:p>
          <a:p>
            <a:r>
              <a:rPr lang="en-US" dirty="0"/>
              <a:t>CN-2. Punycode decoder</a:t>
            </a:r>
          </a:p>
          <a:p>
            <a:r>
              <a:rPr lang="en-US" dirty="0"/>
              <a:t>CN-3. Rate Limiting</a:t>
            </a:r>
          </a:p>
          <a:p>
            <a:r>
              <a:rPr lang="en-US" dirty="0"/>
              <a:t>CN-4. Audit Logging</a:t>
            </a:r>
          </a:p>
          <a:p>
            <a:r>
              <a:rPr lang="en-US" dirty="0"/>
              <a:t>CN-5. Threshold Calibration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BF977-A216-BBDE-8CA4-73D2BEA2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4712179"/>
            <a:ext cx="3954463" cy="17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7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61E0-B9B4-9A43-E44D-3B8BEB72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447799"/>
            <a:ext cx="3105075" cy="1444750"/>
          </a:xfrm>
        </p:spPr>
        <p:txBody>
          <a:bodyPr anchor="b">
            <a:normAutofit/>
          </a:bodyPr>
          <a:lstStyle/>
          <a:p>
            <a:r>
              <a:rPr lang="en-US" sz="3200"/>
              <a:t>Validation Results</a:t>
            </a:r>
          </a:p>
        </p:txBody>
      </p:sp>
      <p:sp>
        <p:nvSpPr>
          <p:cNvPr id="21" name="Freeform 23">
            <a:extLst>
              <a:ext uri="{FF2B5EF4-FFF2-40B4-BE49-F238E27FC236}">
                <a16:creationId xmlns:a16="http://schemas.microsoft.com/office/drawing/2014/main" id="{FBCEB129-C09C-4241-BBA7-E0BE2F82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43E021-C705-4DBD-8461-80B6BFA81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3E14536A-D9EC-4024-85B4-1F6900A7D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50BB36-BB63-421F-B3AF-D7D5D1D37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DE2A3-7E48-D0CE-8CE4-E1A2C74F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088493"/>
            <a:ext cx="3104751" cy="2931307"/>
          </a:xfrm>
        </p:spPr>
        <p:txBody>
          <a:bodyPr>
            <a:normAutofit/>
          </a:bodyPr>
          <a:lstStyle/>
          <a:p>
            <a:r>
              <a:rPr lang="en-US" sz="1600" dirty="0"/>
              <a:t>(LEFT) A list of different test cases applied to the AI model, involving different variations (obvious, not so obvious, legit, etc.)</a:t>
            </a:r>
          </a:p>
          <a:p>
            <a:r>
              <a:rPr lang="en-US" sz="1600" dirty="0"/>
              <a:t>(RIGHT) The results of implementing our defensive controls between Checkpoints 2 and 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45EE1-17E5-FFEC-2BD5-15F9CF04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52" y="2139864"/>
            <a:ext cx="3148022" cy="3187870"/>
          </a:xfrm>
          <a:prstGeom prst="rect">
            <a:avLst/>
          </a:prstGeom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F3B9EA-C61B-9FE7-FCF4-4AA2E8F0B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091" y="2183399"/>
            <a:ext cx="3148022" cy="31008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64028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66EB-B78F-FFBA-DB08-A29610E5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C9AC-0E96-0E3A-5BFB-E907C6F09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Rec. 1: Schedule Monthly Revalidations</a:t>
            </a:r>
          </a:p>
          <a:p>
            <a:pPr lvl="1"/>
            <a:r>
              <a:rPr lang="en-US" dirty="0"/>
              <a:t>Datasets used for testing are significantly outdated. Further use of the model will require more recent data.</a:t>
            </a:r>
          </a:p>
          <a:p>
            <a:r>
              <a:rPr lang="en-US" dirty="0"/>
              <a:t>Rec. 2: Expand test casing</a:t>
            </a:r>
          </a:p>
          <a:p>
            <a:pPr lvl="1"/>
            <a:r>
              <a:rPr lang="en-US" dirty="0"/>
              <a:t>10 cases were enough for basic control validation; however, further testing is needed to produce accurate metrics.</a:t>
            </a:r>
          </a:p>
          <a:p>
            <a:r>
              <a:rPr lang="en-US" dirty="0"/>
              <a:t>Rec. 3: Implement Named-Entity Recognition</a:t>
            </a:r>
          </a:p>
          <a:p>
            <a:pPr lvl="1"/>
            <a:r>
              <a:rPr lang="en-US" dirty="0"/>
              <a:t>There is currently no system in place to capture external senders referencing internal context, such as a name and a role. This should be incorporated for further model accuracy improvements.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0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</TotalTime>
  <Words>383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AI-Based Phishing Detection</vt:lpstr>
      <vt:lpstr>The Problem</vt:lpstr>
      <vt:lpstr>System Architecture</vt:lpstr>
      <vt:lpstr>Critical Assets + Risks</vt:lpstr>
      <vt:lpstr>Defensive Controls</vt:lpstr>
      <vt:lpstr>Validation Results</vt:lpstr>
      <vt:lpstr>Final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Webber</dc:creator>
  <cp:lastModifiedBy>Joshua Webber</cp:lastModifiedBy>
  <cp:revision>1</cp:revision>
  <dcterms:created xsi:type="dcterms:W3CDTF">2026-04-27T00:28:51Z</dcterms:created>
  <dcterms:modified xsi:type="dcterms:W3CDTF">2026-04-27T02:28:33Z</dcterms:modified>
</cp:coreProperties>
</file>